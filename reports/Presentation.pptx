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56692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12355B"/>
                </a:solidFill>
              </a:rPr>
              <a:t>Bluestock Mutual Fund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12355B"/>
                </a:solidFill>
              </a:rPr>
              <a:t>Analytics Capstone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85800" y="2487168"/>
            <a:ext cx="5212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572"/>
                </a:solidFill>
              </a:rPr>
              <a:t>Final Day 7 Submission | Data Analyst Internship Capstone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294436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8A9B"/>
                </a:solidFill>
              </a:rPr>
              <a:t>Report • Dashboard • ETL • Analytics • Presentation</a:t>
            </a:r>
            <a:endParaRPr lang="en-US" sz="1300" dirty="0"/>
          </a:p>
        </p:txBody>
      </p:sp>
      <p:pic>
        <p:nvPicPr>
          <p:cNvPr id="5" name="Image 0" descr="/mnt/data/Bluestock_MF_Capstone_Final/reports/dashboard_page1.png">    </p:cNvPr>
          <p:cNvPicPr>
            <a:picLocks noChangeAspect="1"/>
          </p:cNvPicPr>
          <p:nvPr/>
        </p:nvPicPr>
        <p:blipFill>
          <a:blip r:embed="rId1"/>
          <a:srcRect l="21287" r="21287" t="0" b="0"/>
          <a:stretch/>
        </p:blipFill>
        <p:spPr>
          <a:xfrm>
            <a:off x="6492240" y="777240"/>
            <a:ext cx="5074920" cy="5166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7824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Bluestock MF Capstone  |  1/12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&amp; Objective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</a:rPr>
              <a:t>Convert fragmented mutual fund data into decision-ready analytics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98448"/>
            <a:ext cx="466344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700" dirty="0">
                <a:solidFill>
                  <a:srgbClr val="263238"/>
                </a:solidFill>
              </a:rPr>
              <a:t>Build one reliable workflow for ingestion, cleaning, analysis and dashboarding.</a:t>
            </a:r>
            <a:endParaRPr lang="en-US" sz="1700" dirty="0"/>
          </a:p>
          <a:p>
            <a:r>
              <a:rPr lang="en-US" sz="1700" dirty="0">
                <a:solidFill>
                  <a:srgbClr val="263238"/>
                </a:solidFill>
              </a:rPr>
              <a:t>Compare funds using both returns and risk-adjusted performance.</a:t>
            </a:r>
            <a:endParaRPr lang="en-US" sz="1700" dirty="0"/>
          </a:p>
          <a:p>
            <a:r>
              <a:rPr lang="en-US" sz="1700" dirty="0">
                <a:solidFill>
                  <a:srgbClr val="263238"/>
                </a:solidFill>
              </a:rPr>
              <a:t>Explain industry growth, SIP inflows and investor transaction behavior.</a:t>
            </a:r>
            <a:endParaRPr lang="en-US" sz="1700" dirty="0"/>
          </a:p>
          <a:p>
            <a:r>
              <a:rPr lang="en-US" sz="1700" dirty="0">
                <a:solidFill>
                  <a:srgbClr val="263238"/>
                </a:solidFill>
              </a:rPr>
              <a:t>Deliver a professional report, 12-slide deck, clean code and README.</a:t>
            </a:r>
            <a:endParaRPr lang="en-US" sz="1700" dirty="0"/>
          </a:p>
        </p:txBody>
      </p:sp>
      <p:pic>
        <p:nvPicPr>
          <p:cNvPr id="5" name="Image 0" descr="/mnt/data/Bluestock_MF_Capstone_Final/reports/charts/03_sip_inflow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9511" y="1143000"/>
            <a:ext cx="4805979" cy="2377440"/>
          </a:xfrm>
          <a:prstGeom prst="rect">
            <a:avLst/>
          </a:prstGeom>
        </p:spPr>
      </p:pic>
      <p:pic>
        <p:nvPicPr>
          <p:cNvPr id="6" name="Image 1" descr="/mnt/data/Bluestock_MF_Capstone_Final/reports/charts/10_folio_count_grow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6896" y="3730752"/>
            <a:ext cx="3411209" cy="20116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Bluestock MF Capstone  |  2/12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Sources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</a:rPr>
              <a:t>Ten core datasets plus selected live NAV histories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50292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263238"/>
                </a:solidFill>
              </a:rPr>
              <a:t>Fund master, NAV history, AUM by fund house and SIP inflow datasets.</a:t>
            </a:r>
            <a:endParaRPr lang="en-US" sz="1600" dirty="0"/>
          </a:p>
          <a:p>
            <a:r>
              <a:rPr lang="en-US" sz="1600" dirty="0">
                <a:solidFill>
                  <a:srgbClr val="263238"/>
                </a:solidFill>
              </a:rPr>
              <a:t>Category inflows, folio counts, scheme performance and investor transactions.</a:t>
            </a:r>
            <a:endParaRPr lang="en-US" sz="1600" dirty="0"/>
          </a:p>
          <a:p>
            <a:r>
              <a:rPr lang="en-US" sz="1600" dirty="0">
                <a:solidFill>
                  <a:srgbClr val="263238"/>
                </a:solidFill>
              </a:rPr>
              <a:t>Portfolio holdings and benchmark index data for risk and comparison analysis.</a:t>
            </a:r>
            <a:endParaRPr lang="en-US" sz="1600" dirty="0"/>
          </a:p>
          <a:p>
            <a:r>
              <a:rPr lang="en-US" sz="1600" dirty="0">
                <a:solidFill>
                  <a:srgbClr val="263238"/>
                </a:solidFill>
              </a:rPr>
              <a:t>Live NAV CSVs fetched for selected schemes from mfapi.in.</a:t>
            </a:r>
            <a:endParaRPr lang="en-US" sz="1600" dirty="0"/>
          </a:p>
        </p:txBody>
      </p:sp>
      <p:pic>
        <p:nvPicPr>
          <p:cNvPr id="5" name="Image 0" descr="/mnt/data/Bluestock_MF_Capstone_Final/reports/charts/01_nav_trend_all_sche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4604" y="1097280"/>
            <a:ext cx="4378632" cy="2331720"/>
          </a:xfrm>
          <a:prstGeom prst="rect">
            <a:avLst/>
          </a:prstGeom>
        </p:spPr>
      </p:pic>
      <p:pic>
        <p:nvPicPr>
          <p:cNvPr id="6" name="Image 1" descr="/mnt/data/Bluestock_MF_Capstone_Final/reports/charts/04_category_inflow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352" y="3703320"/>
            <a:ext cx="3941137" cy="20574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Bluestock MF Capstone  |  3/12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</a:rPr>
              <a:t>Raw data to dashboard and final submission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572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1. Raw CSV + Live NAV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96896" y="3017520"/>
            <a:ext cx="1572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2. Pandas Cleaning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462272" y="2103120"/>
            <a:ext cx="1572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3. SQLite Warehouse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7648" y="3017520"/>
            <a:ext cx="1572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4. EDA + Metrics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93024" y="2103120"/>
            <a:ext cx="1572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5. Power BI Dashboard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0" y="3017520"/>
            <a:ext cx="15727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55B"/>
                </a:solidFill>
              </a:rPr>
              <a:t>6. Final Docs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4343400"/>
            <a:ext cx="923544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263238"/>
                </a:solidFill>
              </a:rPr>
              <a:t>run_pipeline.py executes data profiling and ETL loading.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Processed CSV files and SQLite DB support repeatable analysis.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Notebook outputs and dashboard screenshots form final storytelling assets.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7824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Bluestock MF Capstone  |  4/12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Highlights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</a:rPr>
              <a:t>NAV, AUM and SIP trends</a:t>
            </a:r>
            <a:endParaRPr lang="en-US" sz="1050" dirty="0"/>
          </a:p>
        </p:txBody>
      </p:sp>
      <p:pic>
        <p:nvPicPr>
          <p:cNvPr id="4" name="Image 0" descr="/mnt/data/Bluestock_MF_Capstone_Final/reports/charts/01_nav_trend_all_sche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817" y="1051560"/>
            <a:ext cx="4893765" cy="2606040"/>
          </a:xfrm>
          <a:prstGeom prst="rect">
            <a:avLst/>
          </a:prstGeom>
        </p:spPr>
      </p:pic>
      <p:pic>
        <p:nvPicPr>
          <p:cNvPr id="5" name="Image 1" descr="/mnt/data/Bluestock_MF_Capstone_Final/reports/charts/02_aum_growth_by_fund_hou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2366" y="1051560"/>
            <a:ext cx="4011788" cy="2606040"/>
          </a:xfrm>
          <a:prstGeom prst="rect">
            <a:avLst/>
          </a:prstGeom>
        </p:spPr>
      </p:pic>
      <p:pic>
        <p:nvPicPr>
          <p:cNvPr id="6" name="Image 2" descr="/mnt/data/Bluestock_MF_Capstone_Final/reports/charts/03_sip_inflow_tr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027" y="3977640"/>
            <a:ext cx="3696907" cy="18288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77824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Bluestock MF Capstone  |  5/12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EDA Highlights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</a:rPr>
              <a:t>Investor and category behavior</a:t>
            </a:r>
            <a:endParaRPr lang="en-US" sz="1050" dirty="0"/>
          </a:p>
        </p:txBody>
      </p:sp>
      <p:pic>
        <p:nvPicPr>
          <p:cNvPr id="4" name="Image 0" descr="/mnt/data/Bluestock_MF_Capstone_Final/reports/charts/04_category_inflow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577" y="1051560"/>
            <a:ext cx="4904526" cy="2560320"/>
          </a:xfrm>
          <a:prstGeom prst="rect">
            <a:avLst/>
          </a:prstGeom>
        </p:spPr>
      </p:pic>
      <p:pic>
        <p:nvPicPr>
          <p:cNvPr id="5" name="Image 1" descr="/mnt/data/Bluestock_MF_Capstone_Final/reports/charts/05_age_group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7172" y="1051560"/>
            <a:ext cx="2184696" cy="2240280"/>
          </a:xfrm>
          <a:prstGeom prst="rect">
            <a:avLst/>
          </a:prstGeom>
        </p:spPr>
      </p:pic>
      <p:pic>
        <p:nvPicPr>
          <p:cNvPr id="6" name="Image 2" descr="/mnt/data/Bluestock_MF_Capstone_Final/reports/charts/08_sip_amount_by_st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0" y="1359759"/>
            <a:ext cx="2468880" cy="1623881"/>
          </a:xfrm>
          <a:prstGeom prst="rect">
            <a:avLst/>
          </a:prstGeom>
        </p:spPr>
      </p:pic>
      <p:pic>
        <p:nvPicPr>
          <p:cNvPr id="7" name="Image 3" descr="/mnt/data/Bluestock_MF_Capstone_Final/reports/charts/09_t30_b30_city_tier_spl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111" y="3886200"/>
            <a:ext cx="1763697" cy="1828800"/>
          </a:xfrm>
          <a:prstGeom prst="rect">
            <a:avLst/>
          </a:prstGeom>
        </p:spPr>
      </p:pic>
      <p:pic>
        <p:nvPicPr>
          <p:cNvPr id="8" name="Image 4" descr="/mnt/data/Bluestock_MF_Capstone_Final/reports/charts/07_gender_spli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3511" y="3886200"/>
            <a:ext cx="1763697" cy="1828800"/>
          </a:xfrm>
          <a:prstGeom prst="rect">
            <a:avLst/>
          </a:prstGeom>
        </p:spPr>
      </p:pic>
      <p:sp>
        <p:nvSpPr>
          <p:cNvPr id="9" name="Text 2"/>
          <p:cNvSpPr/>
          <p:nvPr/>
        </p:nvSpPr>
        <p:spPr>
          <a:xfrm>
            <a:off x="877824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Bluestock MF Capstone  |  6/12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Metrics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</a:rPr>
              <a:t>Return and benchmark comparison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85800" y="1234440"/>
            <a:ext cx="43891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263238"/>
                </a:solidFill>
              </a:rPr>
              <a:t>Daily returns were computed from NAV history.</a:t>
            </a:r>
            <a:endParaRPr lang="en-US" sz="1600" dirty="0"/>
          </a:p>
          <a:p>
            <a:r>
              <a:rPr lang="en-US" sz="1600" dirty="0">
                <a:solidFill>
                  <a:srgbClr val="263238"/>
                </a:solidFill>
              </a:rPr>
              <a:t>CAGR, alpha, beta and tracking error support performance comparison.</a:t>
            </a:r>
            <a:endParaRPr lang="en-US" sz="1600" dirty="0"/>
          </a:p>
          <a:p>
            <a:r>
              <a:rPr lang="en-US" sz="1600" dirty="0">
                <a:solidFill>
                  <a:srgbClr val="263238"/>
                </a:solidFill>
              </a:rPr>
              <a:t>Benchmark analysis helps separate market-driven gains from fund skill.</a:t>
            </a:r>
            <a:endParaRPr lang="en-US" sz="1600" dirty="0"/>
          </a:p>
        </p:txBody>
      </p:sp>
      <p:pic>
        <p:nvPicPr>
          <p:cNvPr id="5" name="Image 0" descr="/mnt/data/Bluestock_MF_Capstone_Final/reports/charts/benchmark_comparison_to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6866" y="1051560"/>
            <a:ext cx="4839789" cy="2606040"/>
          </a:xfrm>
          <a:prstGeom prst="rect">
            <a:avLst/>
          </a:prstGeom>
        </p:spPr>
      </p:pic>
      <p:pic>
        <p:nvPicPr>
          <p:cNvPr id="6" name="Image 1" descr="/mnt/data/Bluestock_MF_Capstone_Final/reports/charts/daily_return_distribu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977640"/>
            <a:ext cx="36576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Bluestock MF Capstone  |  7/12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Performance Metrics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</a:rPr>
              <a:t>Risk, stability and recommendation layer</a:t>
            </a:r>
            <a:endParaRPr lang="en-US" sz="1050" dirty="0"/>
          </a:p>
        </p:txBody>
      </p:sp>
      <p:pic>
        <p:nvPicPr>
          <p:cNvPr id="4" name="Image 0" descr="/mnt/data/Bluestock_MF_Capstone_Final/reports/charts/rolling_sharpe_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078992"/>
            <a:ext cx="5120640" cy="2560320"/>
          </a:xfrm>
          <a:prstGeom prst="rect">
            <a:avLst/>
          </a:prstGeom>
        </p:spPr>
      </p:pic>
      <p:pic>
        <p:nvPicPr>
          <p:cNvPr id="5" name="Image 1" descr="/mnt/data/Bluestock_MF_Capstone_Final/reports/charts/12_sector_allocation_donu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5114" y="1078992"/>
            <a:ext cx="2866252" cy="24231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97280" y="4224528"/>
            <a:ext cx="97840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500" dirty="0">
                <a:solidFill>
                  <a:srgbClr val="263238"/>
                </a:solidFill>
              </a:rPr>
              <a:t>VaR and CVaR quantify downside risk from historical returns.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Rolling Sharpe shows whether risk-adjusted performance is stable over time.</a:t>
            </a:r>
            <a:endParaRPr lang="en-US" sz="1500" dirty="0"/>
          </a:p>
          <a:p>
            <a:r>
              <a:rPr lang="en-US" sz="1500" dirty="0">
                <a:solidFill>
                  <a:srgbClr val="263238"/>
                </a:solidFill>
              </a:rPr>
              <a:t>Sector HHI measures concentration; recommender ranks funds by risk appetite.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877824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Bluestock MF Capstone  |  8/12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Screenshots 1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</a:rPr>
              <a:t>Industry overview and fund performance pages</a:t>
            </a:r>
            <a:endParaRPr lang="en-US" sz="1050" dirty="0"/>
          </a:p>
        </p:txBody>
      </p:sp>
      <p:pic>
        <p:nvPicPr>
          <p:cNvPr id="4" name="Image 0" descr="/mnt/data/Bluestock_MF_Capstone_Final/reports/dashboard_page1.png">    </p:cNvPr>
          <p:cNvPicPr>
            <a:picLocks noChangeAspect="1"/>
          </p:cNvPicPr>
          <p:nvPr/>
        </p:nvPicPr>
        <p:blipFill>
          <a:blip r:embed="rId1"/>
          <a:srcRect l="17764" r="17764" t="0" b="0"/>
          <a:stretch/>
        </p:blipFill>
        <p:spPr>
          <a:xfrm>
            <a:off x="594360" y="1051560"/>
            <a:ext cx="5394960" cy="4892040"/>
          </a:xfrm>
          <a:prstGeom prst="rect">
            <a:avLst/>
          </a:prstGeom>
        </p:spPr>
      </p:pic>
      <p:pic>
        <p:nvPicPr>
          <p:cNvPr id="5" name="Image 1" descr="/mnt/data/Bluestock_MF_Capstone_Final/reports/dashboard_page2.png">    </p:cNvPr>
          <p:cNvPicPr>
            <a:picLocks noChangeAspect="1"/>
          </p:cNvPicPr>
          <p:nvPr/>
        </p:nvPicPr>
        <p:blipFill>
          <a:blip r:embed="rId2"/>
          <a:srcRect l="18224" r="18224" t="0" b="0"/>
          <a:stretch/>
        </p:blipFill>
        <p:spPr>
          <a:xfrm>
            <a:off x="6236208" y="1051560"/>
            <a:ext cx="5394960" cy="4892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7824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Bluestock MF Capstone  |  9/12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Screenshots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</a:rPr>
              <a:t>Investor analytics and SIP trend pages</a:t>
            </a:r>
            <a:endParaRPr lang="en-US" sz="1050" dirty="0"/>
          </a:p>
        </p:txBody>
      </p:sp>
      <p:pic>
        <p:nvPicPr>
          <p:cNvPr id="4" name="Image 0" descr="/mnt/data/Bluestock_MF_Capstone_Final/reports/dashboard_page3.png">    </p:cNvPr>
          <p:cNvPicPr>
            <a:picLocks noChangeAspect="1"/>
          </p:cNvPicPr>
          <p:nvPr/>
        </p:nvPicPr>
        <p:blipFill>
          <a:blip r:embed="rId1"/>
          <a:srcRect l="19000" r="19000" t="0" b="0"/>
          <a:stretch/>
        </p:blipFill>
        <p:spPr>
          <a:xfrm>
            <a:off x="594360" y="1051560"/>
            <a:ext cx="5394960" cy="4892040"/>
          </a:xfrm>
          <a:prstGeom prst="rect">
            <a:avLst/>
          </a:prstGeom>
        </p:spPr>
      </p:pic>
      <p:pic>
        <p:nvPicPr>
          <p:cNvPr id="5" name="Image 1" descr="/mnt/data/Bluestock_MF_Capstone_Final/reports/dashboard_page4.png">    </p:cNvPr>
          <p:cNvPicPr>
            <a:picLocks noChangeAspect="1"/>
          </p:cNvPicPr>
          <p:nvPr/>
        </p:nvPicPr>
        <p:blipFill>
          <a:blip r:embed="rId2"/>
          <a:srcRect l="18850" r="18850" t="0" b="0"/>
          <a:stretch/>
        </p:blipFill>
        <p:spPr>
          <a:xfrm>
            <a:off x="6236208" y="1051560"/>
            <a:ext cx="5394960" cy="4892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7824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Bluestock MF Capstone  |  10/12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30352" y="749808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2"/>
                </a:solidFill>
              </a:rPr>
              <a:t>What the analysis shows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77240" y="1325880"/>
            <a:ext cx="5486400" cy="3931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600" dirty="0">
                <a:solidFill>
                  <a:srgbClr val="263238"/>
                </a:solidFill>
              </a:rPr>
              <a:t>SBI Mutual Fund appears as the largest AMC in the dashboard dataset.</a:t>
            </a:r>
            <a:endParaRPr lang="en-US" sz="1600" dirty="0"/>
          </a:p>
          <a:p>
            <a:r>
              <a:rPr lang="en-US" sz="1600" dirty="0">
                <a:solidFill>
                  <a:srgbClr val="263238"/>
                </a:solidFill>
              </a:rPr>
              <a:t>SIP inflows and folio growth indicate strong retail participation.</a:t>
            </a:r>
            <a:endParaRPr lang="en-US" sz="1600" dirty="0"/>
          </a:p>
          <a:p>
            <a:r>
              <a:rPr lang="en-US" sz="1600" dirty="0">
                <a:solidFill>
                  <a:srgbClr val="263238"/>
                </a:solidFill>
              </a:rPr>
              <a:t>Fund ranking should combine return, Sharpe, drawdown and expenses, not return alone.</a:t>
            </a:r>
            <a:endParaRPr lang="en-US" sz="1600" dirty="0"/>
          </a:p>
          <a:p>
            <a:r>
              <a:rPr lang="en-US" sz="1600" dirty="0">
                <a:solidFill>
                  <a:srgbClr val="263238"/>
                </a:solidFill>
              </a:rPr>
              <a:t>Investor behavior varies by geography, age group and transaction type.</a:t>
            </a:r>
            <a:endParaRPr lang="en-US" sz="1600" dirty="0"/>
          </a:p>
          <a:p>
            <a:r>
              <a:rPr lang="en-US" sz="1600" dirty="0">
                <a:solidFill>
                  <a:srgbClr val="263238"/>
                </a:solidFill>
              </a:rPr>
              <a:t>Dashboarding makes the insights easier to present to non-technical stakeholders.</a:t>
            </a:r>
            <a:endParaRPr lang="en-US" sz="1600" dirty="0"/>
          </a:p>
        </p:txBody>
      </p:sp>
      <p:pic>
        <p:nvPicPr>
          <p:cNvPr id="5" name="Image 0" descr="/mnt/data/Bluestock_MF_Capstone_Final/reports/charts/11_nav_return_correlat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314236"/>
            <a:ext cx="4526280" cy="38637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7824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Bluestock MF Capstone  |  11/12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2355B"/>
                </a:solidFill>
              </a:rPr>
              <a:t>Thank You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8A9B"/>
                </a:solidFill>
              </a:rPr>
              <a:t>Bluestock Mutual Fund Analytics Capstone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13232" y="2331720"/>
            <a:ext cx="539496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63238"/>
                </a:solidFill>
              </a:rPr>
              <a:t>Final package includes report, deck, dashboard screenshots, cleaned scripts, README, run_pipeline.py and self-review checklist.</a:t>
            </a:r>
            <a:endParaRPr lang="en-US" sz="1600" dirty="0"/>
          </a:p>
        </p:txBody>
      </p:sp>
      <p:pic>
        <p:nvPicPr>
          <p:cNvPr id="5" name="Image 0" descr="/mnt/data/Bluestock_MF_Capstone_Final/reports/dashboard_page1.png">    </p:cNvPr>
          <p:cNvPicPr>
            <a:picLocks noChangeAspect="1"/>
          </p:cNvPicPr>
          <p:nvPr/>
        </p:nvPicPr>
        <p:blipFill>
          <a:blip r:embed="rId1"/>
          <a:srcRect l="21030" r="21030" t="0" b="0"/>
          <a:stretch/>
        </p:blipFill>
        <p:spPr>
          <a:xfrm>
            <a:off x="6492240" y="868680"/>
            <a:ext cx="5074920" cy="5120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7824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A7A7A"/>
                </a:solidFill>
              </a:rPr>
              <a:t>Bluestock MF Capstone  |  12/12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Bluestock Fintech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Capstone</dc:title>
  <dc:subject>Final Capstone Presentation</dc:subject>
  <dc:creator>Bluestock MF Capstone</dc:creator>
  <cp:lastModifiedBy>Bluestock MF Capstone</cp:lastModifiedBy>
  <cp:revision>1</cp:revision>
  <dcterms:created xsi:type="dcterms:W3CDTF">2026-06-18T10:53:47Z</dcterms:created>
  <dcterms:modified xsi:type="dcterms:W3CDTF">2026-06-18T10:53:47Z</dcterms:modified>
</cp:coreProperties>
</file>